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97-4F7E-A0C8-8BB94900567D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97-4F7E-A0C8-8BB94900567D}"/>
              </c:ext>
            </c:extLst>
          </c:dPt>
          <c:dPt>
            <c:idx val="2"/>
            <c:invertIfNegative val="0"/>
            <c:bubble3D val="0"/>
            <c:spPr>
              <a:solidFill>
                <a:srgbClr val="A8A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97-4F7E-A0C8-8BB94900567D}"/>
              </c:ext>
            </c:extLst>
          </c:dPt>
          <c:dPt>
            <c:idx val="3"/>
            <c:invertIfNegative val="0"/>
            <c:bubble3D val="0"/>
            <c:spPr>
              <a:solidFill>
                <a:srgbClr val="D4D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97-4F7E-A0C8-8BB9490056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9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SVM</c:v>
                </c:pt>
                <c:pt idx="2">
                  <c:v>CNN</c:v>
                </c:pt>
                <c:pt idx="3">
                  <c:v>Logistic Reg.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99.12</c:v>
                </c:pt>
                <c:pt idx="1">
                  <c:v>99.02</c:v>
                </c:pt>
                <c:pt idx="2">
                  <c:v>93.95</c:v>
                </c:pt>
                <c:pt idx="3">
                  <c:v>90.22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97-4F7E-A0C8-8BB9490056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CatBoost Accuracy (%)</c:v>
                </c:pt>
              </c:strCache>
            </c:strRef>
          </c:tx>
          <c:spPr>
            <a:solidFill>
              <a:srgbClr val="D4D0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BA-4B0C-9D2D-D08B9BFEBC09}"/>
              </c:ext>
            </c:extLst>
          </c:dPt>
          <c:dPt>
            <c:idx val="1"/>
            <c:invertIfNegative val="0"/>
            <c:bubble3D val="0"/>
            <c:spPr>
              <a:solidFill>
                <a:srgbClr val="A8A2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BA-4B0C-9D2D-D08B9BFEBC09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BA-4B0C-9D2D-D08B9BFEBC09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BA-4B0C-9D2D-D08B9BFEBC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9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Original
Data</c:v>
                </c:pt>
                <c:pt idx="1">
                  <c:v>+ Quantile
Transform</c:v>
                </c:pt>
                <c:pt idx="2">
                  <c:v>+ Data
Synth.</c:v>
                </c:pt>
                <c:pt idx="3">
                  <c:v>DS + QT
(Final)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90.89</c:v>
                </c:pt>
                <c:pt idx="1">
                  <c:v>93.37</c:v>
                </c:pt>
                <c:pt idx="2">
                  <c:v>97.85</c:v>
                </c:pt>
                <c:pt idx="3">
                  <c:v>99.95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BA-4B0C-9D2D-D08B9BFEBC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Security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Defense-in-Depth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27432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29E"/>
                </a:solidFill>
              </a:rPr>
              <a:t>Paper 1  ·  ML Password Strength Scoring  (Random Forest)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7432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29E"/>
                </a:solidFill>
              </a:rPr>
              <a:t>Paper 2  ·  Keystroke Dynamics CNN Authentication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611880"/>
            <a:ext cx="27432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29E"/>
                </a:solidFill>
              </a:rPr>
              <a:t>Paper 3  ·  Attack &amp; Defense Mechanisms  (Hashcat / bcrypt)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Passwords Keep Failing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</a:rPr>
              <a:t>of breaches involve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</a:rPr>
              <a:t>stolen credentials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5156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0" y="1892808"/>
            <a:ext cx="283464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Rule-based meters fail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4356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P@ssw0rd1! scores 'strong' — static rules miss structural patterns.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05156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0" y="1892808"/>
            <a:ext cx="283464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Leetspeak inflates scores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4356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Swapping @ for a doesn't add real randomness; entropy is overcounted.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228600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3127248"/>
            <a:ext cx="283464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Password reuse cascades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26700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One breach compromises every site sharing the same password.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228600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3127248"/>
            <a:ext cx="283464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Fast hashing = easy cracking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6700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MD5 falls at ~41M guesses/sec. No salt, no slow-down.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Three papers — three layers — one coherent defense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Layer 1 · Reject weak passwords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Layer 2 · Detect imposters at login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Layer 3 · Protect credentials at rest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Password Strength Scoring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Mazelan et al.  ·  Universiti Kuala Lumpur / NYU Abu Dhabi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</a:rPr>
              <a:t>Core idea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16C"/>
                </a:solidFill>
              </a:rPr>
              <a:t>Replace static rule-checkers with a Random Forest trained on 660,000 real breach passwords. The key innovation is a hybrid feature set that catches the human-centric patterns traditional meters miss entirely.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B45309"/>
                </a:solidFill>
              </a:rPr>
              <a:t>99.12%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2084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</a:rPr>
              <a:t>RF test 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8716C"/>
                </a:solidFill>
              </a:rPr>
              <a:t>660K+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716C"/>
                </a:solidFill>
              </a:rPr>
              <a:t>real-world passwords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</a:rPr>
              <a:t>Hybrid feature engineering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Leetspeak-normalised entropy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788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Convert @ → a, 0 → o before Shannon entropy to avoid over-rating P@ssw0rd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8229600" cy="384048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TF-IDF character n-grams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209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Identify frequent substrings from breached password corpora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30168"/>
            <a:ext cx="8229600" cy="384048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301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Pattern 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3630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Keyboard walks (qwerty, 1234), repeated chars, sequential runs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8229600" cy="384048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050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Dictionary matching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0507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Top 197 most-breached passwords of 2023/24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71416"/>
            <a:ext cx="8229600" cy="384048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471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Length + character diversity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4471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LUDS baseline — necessary but not sufficient on its own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Why Random Forest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457200" y="118872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234440"/>
            <a:ext cx="45720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271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99.2% recall on weak passwords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15453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Only 47 / 31,349 truly weak passwords misclassified as strong — zero false confidence for the user.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49240" y="2240280"/>
            <a:ext cx="4572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CNN weakness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25511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71% recall on weak passwords — struggles with short (&lt;8 char) inputs, the most dangerous class.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49240" y="3246120"/>
            <a:ext cx="4572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Fail-secure tendency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0" y="35570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When uncertain, the RF downgrades to 'weak'. Exactly the right default for a security tool.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4133088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Feature importance (ANOVA):  Char variety → Entropy → Length → Pattern detection → Dictionary match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Keystroke Dynamics Authentication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AbdelRaouf et al.  ·  Menoufia University / Princess Nourah University  ·  Sensors 2023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Verify identity by HOW you type, not just WHAT you type — using timing patterns unique to each person.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2606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Hold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Duration a key is pressed down.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Captures per-finger dwell habits.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920240"/>
            <a:ext cx="2606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Down-Down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04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Gap between pressing two consecutive keys.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Reflects rhythm and transition speed.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20240"/>
            <a:ext cx="2606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</a:rPr>
              <a:t>Up-Down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3042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Time from releasing one key to pressing the next.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Captures inter-key movement patterns.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1298448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547872"/>
            <a:ext cx="1298448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CMU Dataset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51 users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400 reps each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55648" y="3858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901952" y="3547872"/>
            <a:ext cx="1298448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1952" y="3547872"/>
            <a:ext cx="1298448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1956816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1952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Data Synthesization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800 → 4000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samples/user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0" y="3858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46704" y="3547872"/>
            <a:ext cx="1298448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346704" y="3547872"/>
            <a:ext cx="1298448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46704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Quantile Transform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Normalise dist.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remove outliers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45152" y="3858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91456" y="3547872"/>
            <a:ext cx="1298448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7" name="Shape 35"/>
          <p:cNvSpPr/>
          <p:nvPr/>
        </p:nvSpPr>
        <p:spPr>
          <a:xfrm>
            <a:off x="4791456" y="3547872"/>
            <a:ext cx="1298448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91456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Custom CNN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14-layer 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extraction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89904" y="3858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36208" y="3547872"/>
            <a:ext cx="1298448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Shape 40"/>
          <p:cNvSpPr/>
          <p:nvPr/>
        </p:nvSpPr>
        <p:spPr>
          <a:xfrm>
            <a:off x="6236208" y="3547872"/>
            <a:ext cx="1298448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36208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CatBoost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Ensemble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classifier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34656" y="3858768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29E"/>
                </a:solidFill>
              </a:rPr>
              <a:t>›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680960" y="3547872"/>
            <a:ext cx="1298448" cy="10058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7" name="Shape 45"/>
          <p:cNvSpPr/>
          <p:nvPr/>
        </p:nvSpPr>
        <p:spPr>
          <a:xfrm>
            <a:off x="7680960" y="3547872"/>
            <a:ext cx="1298448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7735824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8A29E"/>
                </a:solidFill>
              </a:rPr>
              <a:t>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80960" y="3611880"/>
            <a:ext cx="12984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Genuine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Imposter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Decision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Preprocessing Makes the Difference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457200" y="1188720"/>
          <a:ext cx="4572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3492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</a:rPr>
              <a:t>Final model (CatBoost + DS + QT)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4924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99.95%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49240" y="2057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Accuracy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3232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99.98%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32320" y="2057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Precision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34924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99.91%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4924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Recall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132320" y="2560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</a:rPr>
              <a:t>0.65%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132320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Equal Error Rate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49240" y="3630168"/>
            <a:ext cx="347472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7" name="Text 14"/>
          <p:cNvSpPr/>
          <p:nvPr/>
        </p:nvSpPr>
        <p:spPr>
          <a:xfrm>
            <a:off x="5349240" y="3721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</a:rPr>
              <a:t>Beats all prior CMU benchmark results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49240" y="3977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Previous best accuracy: 98.57% (Transfer Learning)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Previous best EER: 1.4% (Histogram Gradient Boosting)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45720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187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716C"/>
                </a:solidFill>
              </a:rPr>
              <a:t>Neither technique alone is sufficient — DS and QT work synergistically for a combined ~9% lift.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Attack &amp; Defense Mechanisms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Shi, Li &amp; Li  ·  Hainan University  ·  arXiv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Attack vectors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51760" cy="1005840"/>
          </a:xfrm>
          <a:prstGeom prst="rect">
            <a:avLst/>
          </a:prstGeom>
          <a:solidFill>
            <a:srgbClr val="FEF2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26517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10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Brute-Force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1031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Enumerate every combination. Slow but universal — GPU parallelism makes short passwords trivial.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651760" cy="1005840"/>
          </a:xfrm>
          <a:prstGeom prst="rect">
            <a:avLst/>
          </a:prstGeom>
          <a:solidFill>
            <a:srgbClr val="FEF2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737360"/>
            <a:ext cx="26517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810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Dictionary Attack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1031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Leverage leaked password lists + mangling rules. Fast, highly effective on typical user habits.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51760" cy="1005840"/>
          </a:xfrm>
          <a:prstGeom prst="rect">
            <a:avLst/>
          </a:prstGeom>
          <a:solidFill>
            <a:srgbClr val="FEF2F2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37360"/>
            <a:ext cx="26517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810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Rainbow 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21031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Precomputed hash→plaintext chains. Defeated entirely by per-user salting.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</a:rPr>
              <a:t>Hash algorithm comparison (experimental)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128016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Algorithm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83080" y="3145536"/>
            <a:ext cx="169164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Speed (guesses/sec)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20440" y="3145536"/>
            <a:ext cx="169164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6-char brute-force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257800" y="3145536"/>
            <a:ext cx="68580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1455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Salted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89320" y="3145536"/>
            <a:ext cx="100584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Memory-hard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3145536"/>
            <a:ext cx="1417320" cy="25603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145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Verdict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401568"/>
            <a:ext cx="128016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MD5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783080" y="3401568"/>
            <a:ext cx="16916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~41 million/s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20440" y="3401568"/>
            <a:ext cx="16916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34 seconds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57800" y="3401568"/>
            <a:ext cx="68580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34015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No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9320" y="3401568"/>
            <a:ext cx="10058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No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40880" y="3401568"/>
            <a:ext cx="141732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Avoid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3694176"/>
            <a:ext cx="128016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SHA-256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783080" y="3694176"/>
            <a:ext cx="169164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8" name="Text 46"/>
          <p:cNvSpPr/>
          <p:nvPr/>
        </p:nvSpPr>
        <p:spPr>
          <a:xfrm>
            <a:off x="1783080" y="3694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~26 million/s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20440" y="3694176"/>
            <a:ext cx="169164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50" name="Text 48"/>
          <p:cNvSpPr/>
          <p:nvPr/>
        </p:nvSpPr>
        <p:spPr>
          <a:xfrm>
            <a:off x="3520440" y="3694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~28 minutes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57800" y="3694176"/>
            <a:ext cx="68580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36941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No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9320" y="3694176"/>
            <a:ext cx="100584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54" name="Text 52"/>
          <p:cNvSpPr/>
          <p:nvPr/>
        </p:nvSpPr>
        <p:spPr>
          <a:xfrm>
            <a:off x="5989320" y="36941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No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40880" y="3694176"/>
            <a:ext cx="1417320" cy="2743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56" name="Text 54"/>
          <p:cNvSpPr/>
          <p:nvPr/>
        </p:nvSpPr>
        <p:spPr>
          <a:xfrm>
            <a:off x="7040880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Insufficient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3986784"/>
            <a:ext cx="128016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3986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bcrypt (cost=10)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783080" y="3986784"/>
            <a:ext cx="16916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0" name="Text 58"/>
          <p:cNvSpPr/>
          <p:nvPr/>
        </p:nvSpPr>
        <p:spPr>
          <a:xfrm>
            <a:off x="1783080" y="39867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~27/s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520440" y="3986784"/>
            <a:ext cx="16916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2" name="Text 60"/>
          <p:cNvSpPr/>
          <p:nvPr/>
        </p:nvSpPr>
        <p:spPr>
          <a:xfrm>
            <a:off x="3520440" y="39867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~48 years*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257800" y="3986784"/>
            <a:ext cx="68580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4" name="Text 62"/>
          <p:cNvSpPr/>
          <p:nvPr/>
        </p:nvSpPr>
        <p:spPr>
          <a:xfrm>
            <a:off x="5257800" y="39867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Auto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89320" y="3986784"/>
            <a:ext cx="100584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6" name="Text 64"/>
          <p:cNvSpPr/>
          <p:nvPr/>
        </p:nvSpPr>
        <p:spPr>
          <a:xfrm>
            <a:off x="598932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16C"/>
                </a:solidFill>
              </a:rPr>
              <a:t>Yes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040880" y="3986784"/>
            <a:ext cx="1417320" cy="27432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8" name="Text 66"/>
          <p:cNvSpPr/>
          <p:nvPr/>
        </p:nvSpPr>
        <p:spPr>
          <a:xfrm>
            <a:off x="7040880" y="3986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Use this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8A29E"/>
                </a:solidFill>
              </a:rPr>
              <a:t>* Estimated from experimental cracking speed of ~27 guesses/sec on the test machine. Real-world attackers may vary.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PAPER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Strategies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45720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298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Salting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" y="159105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Unique random salt per user means identical passwords produce different hashes — rainbow tables are dead.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07008"/>
            <a:ext cx="4572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928616" y="1298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Slow Hashing (bcrypt / Argon2)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28616" y="159105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Adjustable cost factor: each +1 doubles computation. Memory-intensive design resists GPU/ASIC acceleration.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45720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25603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Multi-Factor Authentication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" y="2852928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Knowledge + possession + biometrics. TOTP, push-notification, FIDO2. Stolen password ≠ access.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45720" cy="1143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25603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Risk-Adaptive Authentication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28616" y="2852928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Risk score per login based on device, location, time. Low risk → password. High risk → block + alert.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30752"/>
            <a:ext cx="45720" cy="114300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3822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Honeywords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" y="411480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Decoy hashes alongside the real one. Any use of a decoy triggers a silent alert — perfect breach detector.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30752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30752"/>
            <a:ext cx="45720" cy="1143000"/>
          </a:xfrm>
          <a:prstGeom prst="rect">
            <a:avLst/>
          </a:prstGeom>
          <a:solidFill>
            <a:srgbClr val="78716C"/>
          </a:solidFill>
          <a:ln/>
        </p:spPr>
      </p:sp>
      <p:sp>
        <p:nvSpPr>
          <p:cNvPr id="28" name="Text 26"/>
          <p:cNvSpPr/>
          <p:nvPr/>
        </p:nvSpPr>
        <p:spPr>
          <a:xfrm>
            <a:off x="4928616" y="38221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</a:rPr>
              <a:t>NIST SP 800-63B Guidelines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28616" y="411480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</a:rPr>
              <a:t>Min 8 chars, ban compromised passwords, real-time feedback. Drop forced resets — they breed predictable patterns.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Three Layers Work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229600" cy="18288"/>
          </a:xfrm>
          <a:prstGeom prst="rect">
            <a:avLst/>
          </a:prstGeom>
          <a:solidFill>
            <a:srgbClr val="3C373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8321040" cy="1170432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LAYER 1 · REGISTRATION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1 — ML Password Evaluator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User tries to set "P@ssw0rd123!" as their password.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RF model normalises leetspeak, computes entropy on the root word "password" — classified WEAK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Rejected with actionable feedback: "Dictionary word with predictable substitutions. Try a passphrase instead."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8321040" cy="1170432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42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LAYER 2 · LOGIN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2 — Keystroke Dynamics Monitor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Attacker steals the correct password via phishing and logs in from their own device.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CNN analyses Hold Time, Down-Down, Up-Down timing — typing rhythm doesn't match the legitimate user's profile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CatBoost: IMPOSTER → login blocked / MFA escalated. EER only 0.65%.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730752"/>
            <a:ext cx="8321040" cy="1170432"/>
          </a:xfrm>
          <a:prstGeom prst="rect">
            <a:avLst/>
          </a:prstGeom>
          <a:solidFill>
            <a:srgbClr val="29252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6EFAC"/>
                </a:solidFill>
              </a:rPr>
              <a:t>LAYER 3 · DATABASE BREACH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3 — bcrypt + Salting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428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Database exfiltrated. Attacker runs Hashcat on an RTX 3050 GPU.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bcrypt cost=10: ~27 guesses/sec vs ~41 million/sec for MD5. 6-char password: 48 estimated years to crack.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A29E"/>
                </a:solidFill>
              </a:rPr>
              <a:t>→ Per-user salts mean no shared rainbow table — every hash must be attacked individually.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32688"/>
            <a:ext cx="265176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36192"/>
            <a:ext cx="457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53619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Labels from PARS tool — original criteria unknown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938528"/>
            <a:ext cx="457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93852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Only 197 passwords in blacklist (not full RockYou)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2340864"/>
            <a:ext cx="4572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34086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Single dataset — cross-cultural generalisability untested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65176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52928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108960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1089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Integrate RockYou corpus for richer matching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511296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Re-label using modern cracking tools as ground truth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913632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9136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Test non-ASCII / non-English password populations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73552" y="932688"/>
            <a:ext cx="265176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536192"/>
            <a:ext cx="4572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511296" y="153619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Fixed-text only — free-text typing not evaluated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1938528"/>
            <a:ext cx="4572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511296" y="193852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Controlled lab (51 users), not production scale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340864"/>
            <a:ext cx="4572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511296" y="234086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Fatigue / different keyboard layout variability not solved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73552" y="2788920"/>
            <a:ext cx="265176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1" name="Text 29"/>
          <p:cNvSpPr/>
          <p:nvPr/>
        </p:nvSpPr>
        <p:spPr>
          <a:xfrm>
            <a:off x="3273552" y="2852928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3108960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33" name="Text 31"/>
          <p:cNvSpPr/>
          <p:nvPr/>
        </p:nvSpPr>
        <p:spPr>
          <a:xfrm>
            <a:off x="3511296" y="31089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Transfer learning for cross-device adaptation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83280" y="3511296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35" name="Text 33"/>
          <p:cNvSpPr/>
          <p:nvPr/>
        </p:nvSpPr>
        <p:spPr>
          <a:xfrm>
            <a:off x="3511296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GANs / autoencoders for richer augmentation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83280" y="3913632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37" name="Text 35"/>
          <p:cNvSpPr/>
          <p:nvPr/>
        </p:nvSpPr>
        <p:spPr>
          <a:xfrm>
            <a:off x="3511296" y="39136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Continuous authentication in live environments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9904" y="932688"/>
            <a:ext cx="265176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6089904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Paper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990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1536192"/>
            <a:ext cx="4572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153619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Limited hardware (RTX 3050) — not attacker-grade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99632" y="1938528"/>
            <a:ext cx="4572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193852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bcrypt long estimates are projected, not empirical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99632" y="2340864"/>
            <a:ext cx="4572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34086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Dictionary coverage not exhaustive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9904" y="2788920"/>
            <a:ext cx="2651760" cy="182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8" name="Text 46"/>
          <p:cNvSpPr/>
          <p:nvPr/>
        </p:nvSpPr>
        <p:spPr>
          <a:xfrm>
            <a:off x="6089904" y="2852928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108960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50" name="Text 48"/>
          <p:cNvSpPr/>
          <p:nvPr/>
        </p:nvSpPr>
        <p:spPr>
          <a:xfrm>
            <a:off x="6327648" y="31089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Evaluate Argon2 (NIST-recommended successor)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99632" y="3511296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52" name="Text 50"/>
          <p:cNvSpPr/>
          <p:nvPr/>
        </p:nvSpPr>
        <p:spPr>
          <a:xfrm>
            <a:off x="6327648" y="35112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Assess quantum-resistant hashing strategies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99632" y="3913632"/>
            <a:ext cx="45720" cy="201168"/>
          </a:xfrm>
          <a:prstGeom prst="rect">
            <a:avLst/>
          </a:prstGeom>
          <a:solidFill>
            <a:srgbClr val="A8A29E"/>
          </a:solidFill>
          <a:ln/>
        </p:spPr>
      </p:sp>
      <p:sp>
        <p:nvSpPr>
          <p:cNvPr id="54" name="Text 52"/>
          <p:cNvSpPr/>
          <p:nvPr/>
        </p:nvSpPr>
        <p:spPr>
          <a:xfrm>
            <a:off x="6327648" y="39136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16C"/>
                </a:solidFill>
              </a:rPr>
              <a:t>Integrate Honeywords + CSKD in a live system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5720" cy="1005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Layer 1 · Smarter password gates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64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Random Forest on 660K breach passwords with hybrid features (leetspeak-normalised entropy, TF-IDF n-grams, pattern detection) — 99.12% accuracy, near-zero false confidence for weak passwords.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587752"/>
            <a:ext cx="45720" cy="10058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</a:rPr>
              <a:t>Layer 2 · Typing as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935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CNN + CatBoost on 31 keystroke timing features — 99.95% accuracy, 0.65% EER. A stolen password alone cannot authenticate the attacker.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758184"/>
            <a:ext cx="45720" cy="100584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03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</a:rPr>
              <a:t>Layer 3 · Hashing that hurts attackers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10565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29E"/>
                </a:solidFill>
              </a:rPr>
              <a:t>bcrypt's memory-hard design cuts cracking speed by ~1,000,000× vs MD5. Auto-salting defeats rainbow tables. 6-char password: 34 seconds (MD5) → 48 estimated years (bcrypt).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736592"/>
            <a:ext cx="8229600" cy="18288"/>
          </a:xfrm>
          <a:prstGeom prst="rect">
            <a:avLst/>
          </a:prstGeom>
          <a:solidFill>
            <a:srgbClr val="3C3733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AA7918-91B9-4FED-9AE5-AACBEEE511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907a92b-08f6-4431-b185-5d515d1ea50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1314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Security</dc:title>
  <dc:subject>PptxGenJS Presentation</dc:subject>
  <dc:creator>PptxGenJS</dc:creator>
  <cp:lastModifiedBy>Sonia Francis</cp:lastModifiedBy>
  <cp:revision>2</cp:revision>
  <dcterms:created xsi:type="dcterms:W3CDTF">2026-05-26T23:16:44Z</dcterms:created>
  <dcterms:modified xsi:type="dcterms:W3CDTF">2026-05-26T23:35:37Z</dcterms:modified>
</cp:coreProperties>
</file>